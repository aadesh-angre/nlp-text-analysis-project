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DA62D81-960E-F8A9-2675-DABDD3D0A692}">
          <p14:sldIdLst>
            <p14:sldId id="256"/>
            <p14:sldId id="257"/>
            <p14:sldId id="258"/>
          </p14:sldIdLst>
        </p14:section>
        <p14:section name="Background" id="{195BB98B-057D-4511-EA60-5067EB1178A2}">
          <p14:sldIdLst>
            <p14:sldId id="259"/>
            <p14:sldId id="260"/>
            <p14:sldId id="261"/>
          </p14:sldIdLst>
        </p14:section>
        <p14:section name="Design" id="{9176182E-F437-13B9-9C04-FCD84E4422C9}">
          <p14:sldIdLst>
            <p14:sldId id="262"/>
            <p14:sldId id="263"/>
            <p14:sldId id="264"/>
          </p14:sldIdLst>
        </p14:section>
        <p14:section name="Implementation" id="{B5603E48-64E9-E450-1FA8-E317BD334762}">
          <p14:sldIdLst>
            <p14:sldId id="265"/>
            <p14:sldId id="266"/>
            <p14:sldId id="267"/>
            <p14:sldId id="268"/>
            <p14:sldId id="269"/>
          </p14:sldIdLst>
        </p14:section>
        <p14:section name="Results" id="{AB1B2395-AF2D-84A0-56BA-1FE39B8B5582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onclusion" id="{874C6855-2AAE-8E7B-5FFB-AFAFB90EEFC8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46D9A-3E60-4529-B7D3-8618D99D51CC}" v="2" dt="2026-10-26T08:37:46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esh Angre" userId="728319e48eaf4b18" providerId="LiveId" clId="{3DD5FEC4-9683-4AEA-A384-1B6777E4D9A5}"/>
    <pc:docChg chg="modSld">
      <pc:chgData name="Aadesh Angre" userId="728319e48eaf4b18" providerId="LiveId" clId="{3DD5FEC4-9683-4AEA-A384-1B6777E4D9A5}" dt="2026-10-26T08:37:51.749" v="4" actId="255"/>
      <pc:docMkLst>
        <pc:docMk/>
      </pc:docMkLst>
      <pc:sldChg chg="modSp mod">
        <pc:chgData name="Aadesh Angre" userId="728319e48eaf4b18" providerId="LiveId" clId="{3DD5FEC4-9683-4AEA-A384-1B6777E4D9A5}" dt="2026-10-26T08:37:51.749" v="4" actId="255"/>
        <pc:sldMkLst>
          <pc:docMk/>
          <pc:sldMk cId="0" sldId="256"/>
        </pc:sldMkLst>
        <pc:spChg chg="mod">
          <ac:chgData name="Aadesh Angre" userId="728319e48eaf4b18" providerId="LiveId" clId="{3DD5FEC4-9683-4AEA-A384-1B6777E4D9A5}" dt="2026-10-26T08:37:51.749" v="4" actId="255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adesh Angre" userId="728319e48eaf4b18" providerId="LiveId" clId="{3DD5FEC4-9683-4AEA-A384-1B6777E4D9A5}" dt="2026-10-26T08:37:34.141" v="2" actId="113"/>
        <pc:sldMkLst>
          <pc:docMk/>
          <pc:sldMk cId="0" sldId="278"/>
        </pc:sldMkLst>
        <pc:spChg chg="mod">
          <ac:chgData name="Aadesh Angre" userId="728319e48eaf4b18" providerId="LiveId" clId="{3DD5FEC4-9683-4AEA-A384-1B6777E4D9A5}" dt="2026-10-26T08:37:34.141" v="2" actId="113"/>
          <ac:spMkLst>
            <pc:docMk/>
            <pc:sldMk cId="0" sldId="27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45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Vidya reads financial news in the reader's own language, labels it with a language model and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short: the three numbers summarise what the system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language and explanations matter for Indian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word counting to transformers to multilingual models; the gap is explanations, Indian languages and company context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systems are useful but split across tools and mostly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first, then the objectives that answer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features: language first, two models, reasons, company story, timeline,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layers from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 from RSS feed to the news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back end, HTML, CSS and JavaScript front end, tested in Chrome 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shown is a shortened excerpt from main.py; the full source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shown is a shortened excerpt from main.py; the full source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shown is a shortened excerpt from main.py; the full source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shown is a shortened excerpt from main.py; the full source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screen asks for a language; the login page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Sidebar on the left, company story first, then finance details and world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start and end date can be chosen; graphs update with the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card shows the newspaper, link, label and reason. Marathi changes font, labels and news edition.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Pop-ups blur the background and highlight the section being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limitations: general multilingual model and a 100-headline cap per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was achieved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429768"/>
            <a:ext cx="11384280" cy="107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55448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&amp; DATA SCIENCE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914400" y="9784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Vidya: Multilingual Financial News Sentiment Analysis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429768"/>
            <a:ext cx="11384280" cy="107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55448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&amp; DATA SCIENCE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9260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project 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56616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Vidya: Multilingual Financial News Sentiment Analysis System using FinBERT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0350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Prof. </a:t>
            </a:r>
            <a:r>
              <a:rPr lang="en-IN" sz="2800" b="1" dirty="0"/>
              <a:t>Naresh Shende</a:t>
            </a:r>
            <a:endParaRPr lang="en-US" sz="2800" dirty="0"/>
          </a:p>
        </p:txBody>
      </p:sp>
      <p:graphicFrame>
        <p:nvGraphicFramePr>
          <p:cNvPr id="5" name="stud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7040880"/>
          <a:ext cx="8229600" cy="1097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AADESH MAHESH ANGRE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rame f1"/>
          <p:cNvSpPr/>
          <p:nvPr/>
        </p:nvSpPr>
        <p:spPr>
          <a:xfrm>
            <a:off x="10899648" y="3493008"/>
            <a:ext cx="6547104" cy="4191610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7" name="Image 0" descr="The start page: choose a langu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566160"/>
            <a:ext cx="6400800" cy="4045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99648" y="7776058"/>
            <a:ext cx="6547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 page: choose a language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91840"/>
            <a:ext cx="1024128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that read the mood of financial news work only in English and give just a score.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reads news about 100 listed Indian companies and labels each headline positive, neutral or negative, with a confidence score and a plain-language reason.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headlines use FinBERT. Other languages use a multilingual XLM-RoBERTa model.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also shows the company's story, financial ratios, world peers, price-versus-mood graphs and a date timeline.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(विद्या) means knowledge and study: it helps users learn before they decide.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11887200" y="3291840"/>
            <a:ext cx="548640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61520" y="3429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14356080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companies</a:t>
            </a:r>
            <a:endParaRPr lang="en-US" sz="2400" dirty="0"/>
          </a:p>
        </p:txBody>
      </p:sp>
      <p:sp>
        <p:nvSpPr>
          <p:cNvPr id="7" name="card"/>
          <p:cNvSpPr/>
          <p:nvPr/>
        </p:nvSpPr>
        <p:spPr>
          <a:xfrm>
            <a:off x="11887200" y="5440680"/>
            <a:ext cx="548640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161520" y="55778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14356080" y="55778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2400" dirty="0"/>
          </a:p>
        </p:txBody>
      </p:sp>
      <p:sp>
        <p:nvSpPr>
          <p:cNvPr id="10" name="card"/>
          <p:cNvSpPr/>
          <p:nvPr/>
        </p:nvSpPr>
        <p:spPr>
          <a:xfrm>
            <a:off x="11887200" y="7589520"/>
            <a:ext cx="5486400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61520" y="7726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0" y="77266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with reasons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914400" y="3200400"/>
            <a:ext cx="8046720" cy="4846320"/>
          </a:xfrm>
          <a:prstGeom prst="roundRect">
            <a:avLst>
              <a:gd name="adj" fmla="val 28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280160" y="3474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Newspap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25" y="36502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572000"/>
            <a:ext cx="7223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headlines every day, in many languages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give a score but no reason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company facts and history sit on different websites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9326880" y="3200400"/>
            <a:ext cx="8046720" cy="4846320"/>
          </a:xfrm>
          <a:prstGeom prst="roundRect">
            <a:avLst>
              <a:gd name="adj" fmla="val 28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9692640" y="3474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Robo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05" y="36502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69848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 can do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9784080" y="4572000"/>
            <a:ext cx="7223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understands finance words in context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reads many languages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can be explained in simple words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841248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website where a reader studies how the news treats a company, in their own language.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44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00400"/>
          <a:ext cx="16459200" cy="6492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 Content to Investor Sentiment (Tetlock)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media pessimism in a newspaper column using word counts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context; one newspaper; English only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mood is related to stock price movements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Is a Liability Not a Liability? (Loughran and McDonald)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finance-specific positive and negative word lists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understand full sentences; English only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word lists misclassify financial words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(Araci)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BERT on financial text and tested on Financial PhraseBank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only; gives a label and score without a reason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finance-tuned transformer improves on general models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XLM-T (Barbieri et al.)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multilingual XLM-RoBERTa for sentiment on tweets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Social-media text, not financial news; few Indian languages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can be reused across languages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914400" y="3200400"/>
            <a:ext cx="5303520" cy="6035040"/>
          </a:xfrm>
          <a:prstGeom prst="roundRect">
            <a:avLst>
              <a:gd name="adj" fmla="val 25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280160" y="34747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670" y="36722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features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45720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portals list headlines by company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tools return a score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sites show price and ratios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English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6583680" y="3200400"/>
            <a:ext cx="5303520" cy="6035040"/>
          </a:xfrm>
          <a:prstGeom prst="roundRect">
            <a:avLst>
              <a:gd name="adj" fmla="val 25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949440" y="34747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ChartLin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950" y="36722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45720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access to headlines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price and ratio data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is accurate on English finance text</a:t>
            </a:r>
            <a:endParaRPr lang="en-US" sz="2400" dirty="0"/>
          </a:p>
        </p:txBody>
      </p:sp>
      <p:sp>
        <p:nvSpPr>
          <p:cNvPr id="13" name="card"/>
          <p:cNvSpPr/>
          <p:nvPr/>
        </p:nvSpPr>
        <p:spPr>
          <a:xfrm>
            <a:off x="12252960" y="3200400"/>
            <a:ext cx="5303520" cy="6035040"/>
          </a:xfrm>
          <a:prstGeom prst="roundRect">
            <a:avLst>
              <a:gd name="adj" fmla="val 25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12618720" y="347472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BalanceSca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6230" y="36722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62456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0" y="45720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tools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without a reason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company facts and history are in different places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news is hard to find by date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914400" y="3200400"/>
            <a:ext cx="7863840" cy="6217920"/>
          </a:xfrm>
          <a:prstGeom prst="roundRect">
            <a:avLst>
              <a:gd name="adj" fmla="val 22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3474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20624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readers must read many newspapers in different languages to understand how the news treats a listed company. They cannot easily see the trend over time and get no reason behind a positive or negative judgement. Existing tools are mostly English and keep company background, numbers and news in separate places.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326880" y="3931920"/>
            <a:ext cx="80467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news for 100 companies in the chosen language and dates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headlines with FinBERT or a multilingual model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label with signal words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company story, finance details and world peers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interactive graphs, a date timeline and easy help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10896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is a web application that studies the mood of financial news in the reader's own language.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914400" y="4206240"/>
            <a:ext cx="530352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234440" y="4526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Languag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50" y="47237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first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5486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languages; font and news edition follow the choice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6583680" y="4206240"/>
            <a:ext cx="530352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903720" y="4526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Robo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30" y="47237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5486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for English, XLM-RoBERTa for other languages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12252960" y="4206240"/>
            <a:ext cx="530352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12573000" y="4526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Lightbul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0510" y="47237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62456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0" y="5486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 and signal words for every label</a:t>
            </a:r>
            <a:endParaRPr lang="en-US" sz="2000" dirty="0"/>
          </a:p>
        </p:txBody>
      </p:sp>
      <p:sp>
        <p:nvSpPr>
          <p:cNvPr id="19" name="card"/>
          <p:cNvSpPr/>
          <p:nvPr/>
        </p:nvSpPr>
        <p:spPr>
          <a:xfrm>
            <a:off x="914400" y="6949440"/>
            <a:ext cx="530352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1234440" y="7269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Build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950" y="746699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286000" y="7269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story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1234440" y="8229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finance details and world peers</a:t>
            </a:r>
            <a:endParaRPr lang="en-US" sz="2000" dirty="0"/>
          </a:p>
        </p:txBody>
      </p:sp>
      <p:sp>
        <p:nvSpPr>
          <p:cNvPr id="24" name="card"/>
          <p:cNvSpPr/>
          <p:nvPr/>
        </p:nvSpPr>
        <p:spPr>
          <a:xfrm>
            <a:off x="6583680" y="6949440"/>
            <a:ext cx="530352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6903720" y="7269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Calendar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230" y="746699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55280" y="7269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6903720" y="8229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today, month, year or any dates</a:t>
            </a:r>
            <a:endParaRPr lang="en-US" sz="2000" dirty="0"/>
          </a:p>
        </p:txBody>
      </p:sp>
      <p:sp>
        <p:nvSpPr>
          <p:cNvPr id="29" name="card"/>
          <p:cNvSpPr/>
          <p:nvPr/>
        </p:nvSpPr>
        <p:spPr>
          <a:xfrm>
            <a:off x="12252960" y="6949440"/>
            <a:ext cx="530352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12573000" y="7269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QuestionCircl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70510" y="7466990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624560" y="7269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help</a:t>
            </a:r>
            <a:endParaRPr lang="en-US" sz="2600" dirty="0"/>
          </a:p>
        </p:txBody>
      </p:sp>
      <p:sp>
        <p:nvSpPr>
          <p:cNvPr id="33" name="Text 25"/>
          <p:cNvSpPr txBox="1"/>
          <p:nvPr/>
        </p:nvSpPr>
        <p:spPr>
          <a:xfrm>
            <a:off x="12573000" y="8229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buttons and a guided tour with a blurred background</a:t>
            </a:r>
            <a:endParaRPr lang="en-US" sz="2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frame d1"/>
          <p:cNvSpPr/>
          <p:nvPr/>
        </p:nvSpPr>
        <p:spPr>
          <a:xfrm>
            <a:off x="1311949" y="3127248"/>
            <a:ext cx="9811942" cy="5907024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assets/d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101" y="3200400"/>
            <a:ext cx="9665638" cy="576072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12161520" y="3200400"/>
            <a:ext cx="521208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390120" y="3310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239012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HTML, CSS, JavaScript, Chart.js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12161520" y="4800600"/>
            <a:ext cx="521208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90120" y="4910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2390120" y="5394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 for companies, trend, profile and login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12161520" y="6400800"/>
            <a:ext cx="521208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90120" y="6510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90120" y="6995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FinBERT, XLM-R and the signal-word explainer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12161520" y="8001000"/>
            <a:ext cx="521208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390120" y="8110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2390120" y="8595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and the external sources: Google News, Yahoo Finance, Wikipedia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OF THE NLP PIPELINE</a:t>
            </a:r>
            <a:endParaRPr lang="en-US" sz="4400" dirty="0"/>
          </a:p>
        </p:txBody>
      </p:sp>
      <p:sp>
        <p:nvSpPr>
          <p:cNvPr id="3" name="frame d2"/>
          <p:cNvSpPr/>
          <p:nvPr/>
        </p:nvSpPr>
        <p:spPr>
          <a:xfrm>
            <a:off x="1024128" y="3127248"/>
            <a:ext cx="16239744" cy="4384243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assets/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00400"/>
            <a:ext cx="16093440" cy="4237939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914400" y="7863840"/>
            <a:ext cx="530352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8001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by language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8503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for English, XLM-R for others</a:t>
            </a:r>
            <a:endParaRPr lang="en-US" sz="1900" dirty="0"/>
          </a:p>
        </p:txBody>
      </p:sp>
      <p:sp>
        <p:nvSpPr>
          <p:cNvPr id="8" name="card"/>
          <p:cNvSpPr/>
          <p:nvPr/>
        </p:nvSpPr>
        <p:spPr>
          <a:xfrm>
            <a:off x="6583680" y="7863840"/>
            <a:ext cx="530352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8001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scoring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8503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headlines at a time, saved once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12252960" y="7863840"/>
            <a:ext cx="530352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527280" y="8001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0" y="8503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words and a reason for each label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DETAILS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914400" y="3200400"/>
            <a:ext cx="53035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234440" y="35204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yth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50" y="37179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FastAPI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4572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companies, trend, profile, predict, register, login</a:t>
            </a:r>
            <a:endParaRPr lang="en-US" sz="2100" dirty="0"/>
          </a:p>
        </p:txBody>
      </p:sp>
      <p:sp>
        <p:nvSpPr>
          <p:cNvPr id="8" name="card"/>
          <p:cNvSpPr/>
          <p:nvPr/>
        </p:nvSpPr>
        <p:spPr>
          <a:xfrm>
            <a:off x="6583680" y="3200400"/>
            <a:ext cx="53035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903720" y="35204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30" y="37179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4572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users, sessions and cached company profiles</a:t>
            </a:r>
            <a:endParaRPr lang="en-US" sz="2100" dirty="0"/>
          </a:p>
        </p:txBody>
      </p:sp>
      <p:sp>
        <p:nvSpPr>
          <p:cNvPr id="13" name="card"/>
          <p:cNvSpPr/>
          <p:nvPr/>
        </p:nvSpPr>
        <p:spPr>
          <a:xfrm>
            <a:off x="12252960" y="3200400"/>
            <a:ext cx="53035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12573000" y="35204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Robo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0510" y="37179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62456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12573000" y="4572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and XLM-R sentiment models, batches of 16</a:t>
            </a:r>
            <a:endParaRPr lang="en-US" sz="2100" dirty="0"/>
          </a:p>
        </p:txBody>
      </p:sp>
      <p:sp>
        <p:nvSpPr>
          <p:cNvPr id="18" name="card"/>
          <p:cNvSpPr/>
          <p:nvPr/>
        </p:nvSpPr>
        <p:spPr>
          <a:xfrm>
            <a:off x="914400" y="6400800"/>
            <a:ext cx="53035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1234440" y="6720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Newspap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950" y="691835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286000" y="6720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7772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RSS, Yahoo Finance (yfinance), Wikipedia API</a:t>
            </a:r>
            <a:endParaRPr lang="en-US" sz="2100" dirty="0"/>
          </a:p>
        </p:txBody>
      </p:sp>
      <p:sp>
        <p:nvSpPr>
          <p:cNvPr id="23" name="card"/>
          <p:cNvSpPr/>
          <p:nvPr/>
        </p:nvSpPr>
        <p:spPr>
          <a:xfrm>
            <a:off x="6583680" y="6400800"/>
            <a:ext cx="53035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6903720" y="6720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ChartBa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230" y="691835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955280" y="6720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6903720" y="7772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mood combo, stacked bars, doughnut, peer bars</a:t>
            </a:r>
            <a:endParaRPr lang="en-US" sz="2100" dirty="0"/>
          </a:p>
        </p:txBody>
      </p:sp>
      <p:sp>
        <p:nvSpPr>
          <p:cNvPr id="28" name="card"/>
          <p:cNvSpPr/>
          <p:nvPr/>
        </p:nvSpPr>
        <p:spPr>
          <a:xfrm>
            <a:off x="12252960" y="6400800"/>
            <a:ext cx="53035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12573000" y="6720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UserShiel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70510" y="6918350"/>
            <a:ext cx="427939" cy="42793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624560" y="6720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600" dirty="0"/>
          </a:p>
        </p:txBody>
      </p:sp>
      <p:sp>
        <p:nvSpPr>
          <p:cNvPr id="32" name="Text 24"/>
          <p:cNvSpPr txBox="1"/>
          <p:nvPr/>
        </p:nvSpPr>
        <p:spPr>
          <a:xfrm>
            <a:off x="12573000" y="7772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salted passwords; guest mode available</a:t>
            </a:r>
            <a:endParaRPr lang="en-US" sz="2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1: SCORING HEADLINES</a:t>
            </a:r>
            <a:endParaRPr lang="en-US" sz="4400" dirty="0"/>
          </a:p>
        </p:txBody>
      </p:sp>
      <p:sp>
        <p:nvSpPr>
          <p:cNvPr id="3" name="code box"/>
          <p:cNvSpPr/>
          <p:nvPr/>
        </p:nvSpPr>
        <p:spPr>
          <a:xfrm>
            <a:off x="914400" y="3200400"/>
            <a:ext cx="10881360" cy="6400800"/>
          </a:xfrm>
          <a:prstGeom prst="roundRect">
            <a:avLst>
              <a:gd name="adj" fmla="val 1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1188720" y="3429000"/>
            <a:ext cx="1033272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model(lang):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"en" if lang == "en" else "xx"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 not in _m: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_m[k] = pipeline("text-classification",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model="ProsusAI/finbert" if k == "en"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"cardiffnlp/twitter-xlm-roberta-base-sentiment")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_m[k]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score_many(texts, lang="en"):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model(lang)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m:  # FinBERT or the multilingual model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[(r["label"].lower(), round(r["score"], 2))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r in m([t[:512] for t in texts], batch_size=16)]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fallback: count positive and negative keywords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12161520" y="3200400"/>
            <a:ext cx="5212080" cy="64008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2435840" y="4206240"/>
            <a:ext cx="46634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uses FinBERT; other languages use XLM-R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load once and are reused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are scored in batches of 16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fallback keeps the site working if models are missing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2: FETCHING NEWS</a:t>
            </a:r>
            <a:endParaRPr lang="en-US" sz="4400" dirty="0"/>
          </a:p>
        </p:txBody>
      </p:sp>
      <p:sp>
        <p:nvSpPr>
          <p:cNvPr id="3" name="code box"/>
          <p:cNvSpPr/>
          <p:nvPr/>
        </p:nvSpPr>
        <p:spPr>
          <a:xfrm>
            <a:off x="914400" y="3200400"/>
            <a:ext cx="10881360" cy="6400800"/>
          </a:xfrm>
          <a:prstGeom prst="roundRect">
            <a:avLst>
              <a:gd name="adj" fmla="val 1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1188720" y="3429000"/>
            <a:ext cx="1033272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fetch(c, lang, a, b):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(c[1], lang, a, b)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time.time() - last.get(key, 0) &lt; 1800: return  # 30 min cache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last[key] = time.time()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hl, ceid = LANG.get(lang, LANG["en"])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quote(f"{c[0]} after:{a} before:{b + 1 day}")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 = ("https://news.google.com/rss/search?q=" + q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f"&amp;hl={hl}&amp;gl=IN&amp;ceid={ceid}")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 = feedparser.parse(url).entries[:100]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e, (label, s) in zip(es, score_many([e.title for e in es], lang)):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db.execute("insert or ignore into news values(?,...)",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(c[1], lang, e.title, day, label, s,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e.source.title, e.source.href, e.link))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12161520" y="3200400"/>
            <a:ext cx="5212080" cy="64008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2435840" y="4206240"/>
            <a:ext cx="46634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holds the company name and the chosen dates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picks the Google News edition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headlines per search, cached for 30 minutes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name, site and link are saved for every card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3: TREND AND MOOD</a:t>
            </a:r>
            <a:endParaRPr lang="en-US" sz="4400" dirty="0"/>
          </a:p>
        </p:txBody>
      </p:sp>
      <p:sp>
        <p:nvSpPr>
          <p:cNvPr id="3" name="code box"/>
          <p:cNvSpPr/>
          <p:nvPr/>
        </p:nvSpPr>
        <p:spPr>
          <a:xfrm>
            <a:off x="914400" y="3200400"/>
            <a:ext cx="10881360" cy="6400800"/>
          </a:xfrm>
          <a:prstGeom prst="roundRect">
            <a:avLst>
              <a:gd name="adj" fmla="val 1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1188720" y="3429000"/>
            <a:ext cx="1033272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db.execute("select title,day,label,score,paper,site,link "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"from news where ticker=? and lang=? and day between ? and ?",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(ticker, lang, a, b)).fetchall()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7 if (b - a).days &gt; 90 else 10   # month or day buckets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rows: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bk.setdefault(r[1][:n], {"positive": 0, "negative": 0,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"neutral": 0})[r[2]] += 1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mood = ("Bullish" if pos &gt; neg * 1.3 else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"Bearish" if neg &gt; pos * 1.3 else "Mixed")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{"labels": labels, "price": prices(...), "mood": mood,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"papers": top_8_newspapers, "headlines": rows[:25]}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12161520" y="3200400"/>
            <a:ext cx="5212080" cy="64008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2435840" y="4206240"/>
            <a:ext cx="46634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ranges are grouped by month, short ones by day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mood is positive minus negative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is Bullish, Bearish or Mixed by a 1.3 ratio rule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top newspapers come with the same response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4: SECURE LOGIN</a:t>
            </a:r>
            <a:endParaRPr lang="en-US" sz="4400" dirty="0"/>
          </a:p>
        </p:txBody>
      </p:sp>
      <p:sp>
        <p:nvSpPr>
          <p:cNvPr id="3" name="code box"/>
          <p:cNvSpPr/>
          <p:nvPr/>
        </p:nvSpPr>
        <p:spPr>
          <a:xfrm>
            <a:off x="914400" y="3200400"/>
            <a:ext cx="10881360" cy="6400800"/>
          </a:xfrm>
          <a:prstGeom prst="roundRect">
            <a:avLst>
              <a:gd name="adj" fmla="val 1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1188720" y="3429000"/>
            <a:ext cx="1033272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 = lambda pw, salt: hashlib.pbkdf2_hmac(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"sha256", pw.encode(), salt, 120000).hex()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@app.post("/api/register")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register(b: Cred):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salt = secrets.token_bytes(16)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db.execute("insert into users values(?,?,?,?)",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(e, name, salt.hex(), hp(b.password, salt)))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session(e, name)      # random 48-character token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@app.post("/api/login")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login(b: Cred):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db.execute("select name,salt,hash from users where email=?",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(e,)).fetchone()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u or hp(b.password, bytes.fromhex(u[1])) != u[2]: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rgbClr val="EA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{"error": "Email or password is wrong."}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12161520" y="3200400"/>
            <a:ext cx="5212080" cy="64008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2435840" y="4206240"/>
            <a:ext cx="46634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as plain text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has a random salt; 120,000 PBKDF2 rounds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recomputes the hash and compares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token is returned; guests need no account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LANGUAGE AND LOGIN</a:t>
            </a:r>
            <a:endParaRPr lang="en-US" sz="4400" dirty="0"/>
          </a:p>
        </p:txBody>
      </p:sp>
      <p:sp>
        <p:nvSpPr>
          <p:cNvPr id="3" name="frame f1"/>
          <p:cNvSpPr/>
          <p:nvPr/>
        </p:nvSpPr>
        <p:spPr>
          <a:xfrm>
            <a:off x="932688" y="3218688"/>
            <a:ext cx="7918704" cy="5058461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Figure 1: Language selection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7772400" cy="49121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8368589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Language selection page</a:t>
            </a:r>
            <a:endParaRPr lang="en-US" sz="1600" dirty="0"/>
          </a:p>
        </p:txBody>
      </p:sp>
      <p:sp>
        <p:nvSpPr>
          <p:cNvPr id="6" name="frame f2"/>
          <p:cNvSpPr/>
          <p:nvPr/>
        </p:nvSpPr>
        <p:spPr>
          <a:xfrm>
            <a:off x="9528048" y="3218688"/>
            <a:ext cx="7918704" cy="5058461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7" name="Image 1" descr="Figure 2: Login, register or gu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91840"/>
            <a:ext cx="7772400" cy="491215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28048" y="8368589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Login, register or guest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HOME AND COMPANY PROFILE</a:t>
            </a:r>
            <a:endParaRPr lang="en-US" sz="4400" dirty="0"/>
          </a:p>
        </p:txBody>
      </p:sp>
      <p:sp>
        <p:nvSpPr>
          <p:cNvPr id="3" name="frame f3"/>
          <p:cNvSpPr/>
          <p:nvPr/>
        </p:nvSpPr>
        <p:spPr>
          <a:xfrm>
            <a:off x="1587236" y="3218688"/>
            <a:ext cx="9261367" cy="5907024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Figure 3: Sidebar with user name, language and compan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388" y="3291840"/>
            <a:ext cx="9115063" cy="5760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87236" y="9217152"/>
            <a:ext cx="9261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Sidebar with user name, language and companies</a:t>
            </a:r>
            <a:endParaRPr lang="en-US" sz="1600" dirty="0"/>
          </a:p>
        </p:txBody>
      </p:sp>
      <p:sp>
        <p:nvSpPr>
          <p:cNvPr id="6" name="frame f4"/>
          <p:cNvSpPr/>
          <p:nvPr/>
        </p:nvSpPr>
        <p:spPr>
          <a:xfrm>
            <a:off x="12707824" y="3218688"/>
            <a:ext cx="4302351" cy="5907024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7" name="Image 1" descr="Figure 4: Company story and fina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0976" y="3291840"/>
            <a:ext cx="4156047" cy="5760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707824" y="9217152"/>
            <a:ext cx="430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Company story and finance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TIMELINE AND GRAPHS</a:t>
            </a:r>
            <a:endParaRPr lang="en-US" sz="4400" dirty="0"/>
          </a:p>
        </p:txBody>
      </p:sp>
      <p:sp>
        <p:nvSpPr>
          <p:cNvPr id="3" name="frame f5"/>
          <p:cNvSpPr/>
          <p:nvPr/>
        </p:nvSpPr>
        <p:spPr>
          <a:xfrm>
            <a:off x="932688" y="3218688"/>
            <a:ext cx="8650224" cy="4986210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Figure 5: Date timeline and price vs mo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8503920" cy="48399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8296338"/>
            <a:ext cx="8650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Date timeline and price vs mood</a:t>
            </a:r>
            <a:endParaRPr lang="en-US" sz="1600" dirty="0"/>
          </a:p>
        </p:txBody>
      </p:sp>
      <p:sp>
        <p:nvSpPr>
          <p:cNvPr id="6" name="frame f6"/>
          <p:cNvSpPr/>
          <p:nvPr/>
        </p:nvSpPr>
        <p:spPr>
          <a:xfrm>
            <a:off x="10168128" y="3218688"/>
            <a:ext cx="7187184" cy="5094204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7" name="Image 1" descr="Figure 6: Mood charts and top newspap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291840"/>
            <a:ext cx="7040880" cy="4947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168128" y="8404332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Mood charts and top newspapers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NEWS CARDS AND MARATHI</a:t>
            </a:r>
            <a:endParaRPr lang="en-US" sz="4400" dirty="0"/>
          </a:p>
        </p:txBody>
      </p:sp>
      <p:sp>
        <p:nvSpPr>
          <p:cNvPr id="3" name="frame f7"/>
          <p:cNvSpPr/>
          <p:nvPr/>
        </p:nvSpPr>
        <p:spPr>
          <a:xfrm>
            <a:off x="984935" y="3218688"/>
            <a:ext cx="6625491" cy="5907024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Figure 7: News cards with reas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87" y="3291840"/>
            <a:ext cx="6479187" cy="5760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84935" y="9217152"/>
            <a:ext cx="6625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News cards with reasons</a:t>
            </a:r>
            <a:endParaRPr lang="en-US" sz="1600" dirty="0"/>
          </a:p>
        </p:txBody>
      </p:sp>
      <p:sp>
        <p:nvSpPr>
          <p:cNvPr id="6" name="frame f8"/>
          <p:cNvSpPr/>
          <p:nvPr/>
        </p:nvSpPr>
        <p:spPr>
          <a:xfrm>
            <a:off x="8887968" y="3218688"/>
            <a:ext cx="8467344" cy="5405201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7" name="Image 1" descr="Figure 8: Marathi interfa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3291840"/>
            <a:ext cx="8321040" cy="525889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87968" y="8715329"/>
            <a:ext cx="8467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8: Marathi interface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GUIDE AND HELP POP-UPS</a:t>
            </a:r>
            <a:endParaRPr lang="en-US" sz="4400" dirty="0"/>
          </a:p>
        </p:txBody>
      </p:sp>
      <p:sp>
        <p:nvSpPr>
          <p:cNvPr id="3" name="frame f10"/>
          <p:cNvSpPr/>
          <p:nvPr/>
        </p:nvSpPr>
        <p:spPr>
          <a:xfrm>
            <a:off x="932688" y="3218688"/>
            <a:ext cx="7918704" cy="5058461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4" name="Image 0" descr="Figure 9: Guided tour with blurred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7772400" cy="49121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8368589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9: Guided tour with blurred background</a:t>
            </a:r>
            <a:endParaRPr lang="en-US" sz="1600" dirty="0"/>
          </a:p>
        </p:txBody>
      </p:sp>
      <p:sp>
        <p:nvSpPr>
          <p:cNvPr id="6" name="frame f11"/>
          <p:cNvSpPr/>
          <p:nvPr/>
        </p:nvSpPr>
        <p:spPr>
          <a:xfrm>
            <a:off x="9528048" y="3218688"/>
            <a:ext cx="7918704" cy="5058461"/>
          </a:xfrm>
          <a:prstGeom prst="rect">
            <a:avLst/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</p:sp>
      <p:pic>
        <p:nvPicPr>
          <p:cNvPr id="7" name="Image 1" descr="Figure 10: Help pop-up for one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91840"/>
            <a:ext cx="7772400" cy="491215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28048" y="8368589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10: Help pop-up for one chart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</a:t>
            </a:r>
            <a:endParaRPr lang="en-US" sz="4400" dirty="0"/>
          </a:p>
        </p:txBody>
      </p:sp>
      <p:graphicFrame>
        <p:nvGraphicFramePr>
          <p:cNvPr id="2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91840"/>
          <a:ext cx="16459200" cy="52120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reading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English-only tool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Vidya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language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Reader's own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Twelve Indian languages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for label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Reader's judgement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only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reason and signal words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background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search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provided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Story, finance and peers on one page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news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search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date range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Newspaper source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paper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missing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logo and link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14400" y="905256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non-English labels come from a general model, Google News returns up to 100 headlines per search, and the site is for learning, not investment advice.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SCOPE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914400" y="3200400"/>
            <a:ext cx="8046720" cy="6217920"/>
          </a:xfrm>
          <a:prstGeom prst="roundRect">
            <a:avLst>
              <a:gd name="adj" fmla="val 22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280160" y="3474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Book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25" y="36502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57200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reads financial news in the reader's language and labels it with FinBERT or XLM-R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comes with a reason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story, finance and world peers sit beside the news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language-first start page, login and pop-up help make it easy for beginners</a:t>
            </a:r>
            <a:endParaRPr lang="en-US" sz="2600" dirty="0"/>
          </a:p>
        </p:txBody>
      </p:sp>
      <p:sp>
        <p:nvSpPr>
          <p:cNvPr id="8" name="card"/>
          <p:cNvSpPr/>
          <p:nvPr/>
        </p:nvSpPr>
        <p:spPr>
          <a:xfrm>
            <a:off x="9326880" y="3200400"/>
            <a:ext cx="8046720" cy="6217920"/>
          </a:xfrm>
          <a:prstGeom prst="roundRect">
            <a:avLst>
              <a:gd name="adj" fmla="val 22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9692640" y="3474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05" y="36502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69848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9784080" y="457200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multilingual model on Indian financial news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full interface into all 12 languages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images and summaries on news cards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watchlists and mood alerts</a:t>
            </a:r>
            <a:endParaRPr lang="en-US" sz="26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multi-node ledger for stored results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2148840"/>
            <a:ext cx="1645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291840"/>
            <a:ext cx="1609344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C. Tetlock, "Giving Content to Investor Sentiment: The Role of Media in the Stock Market," The Journal of Finance, vol. 62, no. 3, 2007.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Loughran and B. McDonald, "When Is a Liability Not a Liability?" The Journal of Finance, vol. 66, no. 1, 2011.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Malo et al., "Good Debt or Bad Debt: Detecting Semantic Orientations in Economic Texts," JASIST, vol. 65, no. 4, 2014.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Devlin et al., "BERT: Pre-training of Deep Bidirectional Transformers for Language Understanding," NAACL-HLT, 2019.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Araci, "FinBERT: Financial Sentiment Analysis with Pre-trained Language Models," arXiv:1908.10063, 2019.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Conneau et al., "Unsupervised Cross-lingual Representation Learning at Scale," ACL, 2020.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Barbieri et al., "XLM-T: Multilingual Language Models in Twitter for Sentiment Analysis and Beyond," LREC, 2022.</a:t>
            </a:r>
            <a:endParaRPr lang="en-US" sz="24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Documentation, https://fastapi.tiangolo.com   |   Chart.js Documentation, https://www.chartjs.org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642080" y="9784080"/>
            <a:ext cx="73152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840480"/>
            <a:ext cx="1645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57607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 Mahesh Angre  |  Roll No. 702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Prof. </a:t>
            </a:r>
            <a:r>
              <a:rPr lang="en-IN" sz="2800" dirty="0"/>
              <a:t>Naresh Shende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ya">
  <a:themeElements>
    <a:clrScheme name="Vidya">
      <a:dk1>
        <a:srgbClr val="1A1A1A"/>
      </a:dk1>
      <a:lt1>
        <a:srgbClr val="FFFFFF"/>
      </a:lt1>
      <a:dk2>
        <a:srgbClr val="1B2A49"/>
      </a:dk2>
      <a:lt2>
        <a:srgbClr val="EAF4F4"/>
      </a:lt2>
      <a:accent1>
        <a:srgbClr val="0E8C8C"/>
      </a:accent1>
      <a:accent2>
        <a:srgbClr val="1B2A49"/>
      </a:accent2>
      <a:accent3>
        <a:srgbClr val="E8A317"/>
      </a:accent3>
      <a:accent4>
        <a:srgbClr val="2E7D32"/>
      </a:accent4>
      <a:accent5>
        <a:srgbClr val="C62828"/>
      </a:accent5>
      <a:accent6>
        <a:srgbClr val="5C6BC0"/>
      </a:accent6>
      <a:hlink>
        <a:srgbClr val="0E8C8C"/>
      </a:hlink>
      <a:folHlink>
        <a:srgbClr val="5C6BC0"/>
      </a:folHlink>
    </a:clrScheme>
    <a:fontScheme name="Vidy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2528</Words>
  <Application>Microsoft Office PowerPoint</Application>
  <PresentationFormat>Custom</PresentationFormat>
  <Paragraphs>338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Vidya</vt:lpstr>
      <vt:lpstr>PowerPoint Presentation</vt:lpstr>
      <vt:lpstr>ABSTRACT</vt:lpstr>
      <vt:lpstr>INTRODUCTION</vt:lpstr>
      <vt:lpstr>LITERATURE SURVEY</vt:lpstr>
      <vt:lpstr>EXISTING SYSTEM</vt:lpstr>
      <vt:lpstr>PROBLEM STATEMENT</vt:lpstr>
      <vt:lpstr>PROPOSED SYSTEM</vt:lpstr>
      <vt:lpstr>SYSTEM ARCHITECTURE</vt:lpstr>
      <vt:lpstr>WORKING OF THE NLP PIPELINE</vt:lpstr>
      <vt:lpstr>IMPLEMENTATION DETAILS</vt:lpstr>
      <vt:lpstr>CODE 1: SCORING HEADLINES</vt:lpstr>
      <vt:lpstr>CODE 2: FETCHING NEWS</vt:lpstr>
      <vt:lpstr>CODE 3: TREND AND MOOD</vt:lpstr>
      <vt:lpstr>CODE 4: SECURE LOGIN</vt:lpstr>
      <vt:lpstr>RESULTS: LANGUAGE AND LOGIN</vt:lpstr>
      <vt:lpstr>RESULTS: HOME AND COMPANY PROFILE</vt:lpstr>
      <vt:lpstr>RESULTS: TIMELINE AND GRAPHS</vt:lpstr>
      <vt:lpstr>RESULTS: NEWS CARDS AND MARATHI</vt:lpstr>
      <vt:lpstr>RESULTS: GUIDE AND HELP POP-UPS</vt:lpstr>
      <vt:lpstr>COMPARATIVE ANALYSIS</vt:lpstr>
      <vt:lpstr>CONCLUSION AND 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Vidya: Multilingual Financial News Sentiment Analysis System</dc:title>
  <dc:subject>PptxGenJS Presentation</dc:subject>
  <dc:creator>Aadesh Mahesh Angre</dc:creator>
  <cp:lastModifiedBy>Aadesh Angre</cp:lastModifiedBy>
  <cp:revision>1</cp:revision>
  <dcterms:created xsi:type="dcterms:W3CDTF">2026-10-26T08:34:51Z</dcterms:created>
  <dcterms:modified xsi:type="dcterms:W3CDTF">2026-10-26T08:37:57Z</dcterms:modified>
</cp:coreProperties>
</file>